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8"/>
  </p:notesMasterIdLst>
  <p:sldIdLst>
    <p:sldId id="256" r:id="rId2"/>
    <p:sldId id="257" r:id="rId3"/>
    <p:sldId id="300" r:id="rId4"/>
    <p:sldId id="260" r:id="rId5"/>
    <p:sldId id="284" r:id="rId6"/>
    <p:sldId id="265" r:id="rId7"/>
    <p:sldId id="267" r:id="rId8"/>
    <p:sldId id="309" r:id="rId9"/>
    <p:sldId id="283" r:id="rId10"/>
    <p:sldId id="266" r:id="rId11"/>
    <p:sldId id="285" r:id="rId12"/>
    <p:sldId id="288" r:id="rId13"/>
    <p:sldId id="289" r:id="rId14"/>
    <p:sldId id="311" r:id="rId15"/>
    <p:sldId id="312" r:id="rId16"/>
    <p:sldId id="314" r:id="rId17"/>
    <p:sldId id="301" r:id="rId18"/>
    <p:sldId id="313" r:id="rId19"/>
    <p:sldId id="293" r:id="rId20"/>
    <p:sldId id="308" r:id="rId21"/>
    <p:sldId id="307" r:id="rId22"/>
    <p:sldId id="315" r:id="rId23"/>
    <p:sldId id="306" r:id="rId24"/>
    <p:sldId id="298" r:id="rId25"/>
    <p:sldId id="297" r:id="rId26"/>
    <p:sldId id="29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239" autoAdjust="0"/>
    <p:restoredTop sz="94624" autoAdjust="0"/>
  </p:normalViewPr>
  <p:slideViewPr>
    <p:cSldViewPr snapToGrid="0">
      <p:cViewPr varScale="1">
        <p:scale>
          <a:sx n="84" d="100"/>
          <a:sy n="84" d="100"/>
        </p:scale>
        <p:origin x="41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CF9718-51EA-4CB7-8D60-CB282A6EACFA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6EA996-F2AD-4E54-88DF-CB81B9FD1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260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F6EA996-F2AD-4E54-88DF-CB81B9FD12B8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9442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375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704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59892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639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53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19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68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798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9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456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02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403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25410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5187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623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249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9D5DF-9C1C-4DF6-86C4-29A42FB588A5}" type="datetimeFigureOut">
              <a:rPr lang="en-US" smtClean="0"/>
              <a:t>4/9/2018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A034789A-A276-48C1-9430-7D042E4B2C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565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VLSI PROJECT</a:t>
            </a:r>
            <a: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/>
            </a:r>
            <a:br>
              <a:rPr lang="en-US" dirty="0">
                <a:solidFill>
                  <a:schemeClr val="accent2">
                    <a:lumMod val="60000"/>
                    <a:lumOff val="40000"/>
                  </a:schemeClr>
                </a:solidFill>
              </a:rPr>
            </a:br>
            <a:r>
              <a:rPr lang="en-US" sz="4400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Design and Implement </a:t>
            </a:r>
            <a:r>
              <a:rPr lang="en-US" sz="4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CVU- Control Vector Unit for VGIW </a:t>
            </a:r>
            <a:r>
              <a:rPr lang="en-US" sz="4400" dirty="0" err="1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Archeticture</a:t>
            </a:r>
            <a:r>
              <a:rPr lang="en-US" sz="4400" dirty="0" smtClean="0">
                <a:solidFill>
                  <a:schemeClr val="accent2">
                    <a:lumMod val="60000"/>
                    <a:lumOff val="40000"/>
                  </a:schemeClr>
                </a:solidFill>
              </a:rPr>
              <a:t> </a:t>
            </a:r>
            <a:endParaRPr lang="en-US" sz="4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dirty="0" smtClean="0"/>
              <a:t>Students: </a:t>
            </a:r>
            <a:r>
              <a:rPr lang="en-US" sz="2400" dirty="0" err="1" smtClean="0"/>
              <a:t>Rabea</a:t>
            </a:r>
            <a:r>
              <a:rPr lang="en-US" sz="2400" dirty="0" smtClean="0"/>
              <a:t> Mahajna, Kamal </a:t>
            </a:r>
            <a:r>
              <a:rPr lang="en-US" sz="2400" dirty="0" err="1" smtClean="0"/>
              <a:t>Khateb</a:t>
            </a:r>
            <a:endParaRPr lang="en-US" sz="2400" dirty="0" smtClean="0"/>
          </a:p>
          <a:p>
            <a:pPr algn="ctr"/>
            <a:r>
              <a:rPr lang="en-US" sz="2400" dirty="0" smtClean="0"/>
              <a:t>Supervised by: </a:t>
            </a:r>
            <a:r>
              <a:rPr lang="en-US" sz="2400" dirty="0" err="1" smtClean="0"/>
              <a:t>Goel</a:t>
            </a:r>
            <a:r>
              <a:rPr lang="en-US" sz="2400" dirty="0" smtClean="0"/>
              <a:t> Samuel, Dani </a:t>
            </a:r>
            <a:r>
              <a:rPr lang="en-US" sz="2400" dirty="0" err="1" smtClean="0"/>
              <a:t>Voitsechov</a:t>
            </a:r>
            <a:endParaRPr 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150382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16" y="2400822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6600" dirty="0" smtClean="0"/>
              <a:t>Reminder </a:t>
            </a:r>
            <a:br>
              <a:rPr lang="en-US" sz="6600" dirty="0" smtClean="0"/>
            </a:b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338095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Terminology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BBs- basic blocks: </a:t>
            </a:r>
          </a:p>
          <a:p>
            <a:pPr lvl="1"/>
            <a:r>
              <a:rPr lang="en-US" dirty="0" smtClean="0"/>
              <a:t>Sequence of commands with single entry and single exit.</a:t>
            </a:r>
          </a:p>
          <a:p>
            <a:pPr lvl="1"/>
            <a:r>
              <a:rPr lang="en-US" dirty="0" smtClean="0"/>
              <a:t>Example: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×ª××¦××ª ×ª××× × ×¢×××¨ âªbasic block codeâ¬â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175" y="3289300"/>
            <a:ext cx="3495675" cy="23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6503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Control-Flow graph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Represents all possible execution paths for a program</a:t>
            </a:r>
          </a:p>
          <a:p>
            <a:r>
              <a:rPr lang="en-US" dirty="0" smtClean="0"/>
              <a:t>Control flow statements (branches, jumps…) determine 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 single path.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307" y="1558097"/>
            <a:ext cx="4071063" cy="457965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906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27634" y="2587556"/>
            <a:ext cx="715955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 smtClean="0">
                <a:solidFill>
                  <a:schemeClr val="accent1"/>
                </a:solidFill>
              </a:rPr>
              <a:t>VGIW-Vector Graph Instruction Word</a:t>
            </a: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2169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The VGIW Architecture</a:t>
            </a:r>
            <a:br>
              <a:rPr lang="en-US" dirty="0" smtClean="0"/>
            </a:br>
            <a:r>
              <a:rPr lang="en-US" sz="2800" dirty="0" smtClean="0"/>
              <a:t>vector graph instruction word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Break each kernel to it’s basic blocks</a:t>
            </a:r>
          </a:p>
          <a:p>
            <a:r>
              <a:rPr lang="en-US" dirty="0" smtClean="0"/>
              <a:t>Produce a dataflow graph for each BB</a:t>
            </a:r>
          </a:p>
          <a:p>
            <a:r>
              <a:rPr lang="en-US" dirty="0" smtClean="0"/>
              <a:t>Overcoming the complexity of mapping the whole kernel at once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111" y="1583987"/>
            <a:ext cx="2343150" cy="363976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699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 smtClean="0"/>
              <a:t>Life span of a kernel </a:t>
            </a:r>
            <a:br>
              <a:rPr lang="en-US" dirty="0" smtClean="0"/>
            </a:b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4656" y="1468877"/>
            <a:ext cx="3367599" cy="4564265"/>
          </a:xfrm>
          <a:prstGeom prst="rect">
            <a:avLst/>
          </a:prstGeom>
        </p:spPr>
      </p:pic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75776" y="1824388"/>
            <a:ext cx="8596668" cy="3880773"/>
          </a:xfrm>
        </p:spPr>
        <p:txBody>
          <a:bodyPr/>
          <a:lstStyle/>
          <a:p>
            <a:r>
              <a:rPr lang="en-US" dirty="0" smtClean="0"/>
              <a:t>Control- Dataflow represents our program</a:t>
            </a:r>
          </a:p>
          <a:p>
            <a:r>
              <a:rPr lang="en-US" dirty="0" smtClean="0"/>
              <a:t>Nodes represent BBS </a:t>
            </a:r>
          </a:p>
          <a:p>
            <a:r>
              <a:rPr lang="en-US" dirty="0" smtClean="0"/>
              <a:t>Threads take different paths depending the outcome of</a:t>
            </a:r>
            <a:br>
              <a:rPr lang="en-US" dirty="0" smtClean="0"/>
            </a:br>
            <a:r>
              <a:rPr lang="en-US" dirty="0" smtClean="0"/>
              <a:t>the control statement at the end of the BB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For example: Tid 2 takes the highlighted path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365964" y="4751606"/>
            <a:ext cx="1387935" cy="6970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Oval 8"/>
          <p:cNvSpPr/>
          <p:nvPr/>
        </p:nvSpPr>
        <p:spPr>
          <a:xfrm>
            <a:off x="8318623" y="1369335"/>
            <a:ext cx="1387935" cy="6970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0" name="Oval 9"/>
          <p:cNvSpPr/>
          <p:nvPr/>
        </p:nvSpPr>
        <p:spPr>
          <a:xfrm>
            <a:off x="9147419" y="2545431"/>
            <a:ext cx="1387935" cy="6970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Oval 10"/>
          <p:cNvSpPr/>
          <p:nvPr/>
        </p:nvSpPr>
        <p:spPr>
          <a:xfrm>
            <a:off x="8580034" y="3699077"/>
            <a:ext cx="1387935" cy="69701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781152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  <p:bldP spid="7" grpId="0" animBg="1"/>
      <p:bldP spid="9" grpId="0" animBg="1"/>
      <p:bldP spid="10" grpId="0" animBg="1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Life span of a </a:t>
            </a:r>
            <a:r>
              <a:rPr lang="en-US" dirty="0" smtClean="0"/>
              <a:t>kernel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037" y="2731655"/>
            <a:ext cx="5735781" cy="35144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48401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74136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58600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4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84335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5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668799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6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994534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7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378998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8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863937" y="2235261"/>
            <a:ext cx="3844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" y="2235261"/>
            <a:ext cx="2374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Running BB1=&gt;</a:t>
            </a:r>
          </a:p>
        </p:txBody>
      </p:sp>
    </p:spTree>
    <p:extLst>
      <p:ext uri="{BB962C8B-B14F-4D97-AF65-F5344CB8AC3E}">
        <p14:creationId xmlns:p14="http://schemas.microsoft.com/office/powerpoint/2010/main" val="2303355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81 2.22222E-6 L 0.09232 0.0544 L 0.09805 0.26504 L -0.09674 0.32268 L -0.09674 0.32315 L -0.09674 0.32268 L -0.09674 0.32315 L -0.09674 0.32268 " pathEditMode="relative" rAng="0" ptsTypes="AAAAAAAA">
                                      <p:cBhvr>
                                        <p:cTn id="6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46" y="1615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2.22222E-6 L 0.06562 0.06342 L 0.0707 0.27407 L 0.15937 0.33171 L 0.15937 0.33194 " pathEditMode="relative" rAng="0" ptsTypes="AAA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969" y="1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716 2.22222E-6 L 0.03854 0.05671 L 0.04271 0.25972 L -0.12344 0.3243 L -0.12344 0.32477 " pathEditMode="relative" rAng="0" ptsTypes="AAAAA">
                                      <p:cBhvr>
                                        <p:cTn id="1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20" y="162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2.22222E-6 L 0.00846 0.06342 L 0.01185 0.26967 L 0.13125 0.32731 L 0.13125 0.32754 " pathEditMode="relative" rAng="0" ptsTypes="AAAAA">
                                      <p:cBhvr>
                                        <p:cTn id="18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62" y="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2.22222E-6 L -0.01445 0.06203 L -0.01029 0.27407 L 0.14154 0.32731 L 0.14154 0.32407 " pathEditMode="relative" rAng="0" ptsTypes="AAAAA">
                                      <p:cBhvr>
                                        <p:cTn id="22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354" y="163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2.22222E-6 L -0.04166 0.06342 L -0.04166 0.27569 L 0.14662 0.33032 L 0.14753 0.32569 " pathEditMode="relative" rAng="0" ptsTypes="AAAAA">
                                      <p:cBhvr>
                                        <p:cTn id="26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86" y="165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375E-6 2.22222E-6 L -0.07317 0.26666 L 0.14675 0.33333 " pathEditMode="relative" rAng="0" ptsTypes="AAA">
                                      <p:cBhvr>
                                        <p:cTn id="30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72" y="166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2.22222E-6 L -0.10208 0.05555 L -0.10416 0.26666 L -0.225 0.31852 L -0.225 0.31875 " pathEditMode="relative" rAng="0" ptsTypes="AAAAA">
                                      <p:cBhvr>
                                        <p:cTn id="34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250" y="1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  <p:bldP spid="10" grpId="0"/>
      <p:bldP spid="11" grpId="0"/>
      <p:bldP spid="12" grpId="0"/>
      <p:bldP spid="1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6560" y="2720502"/>
            <a:ext cx="8596668" cy="1320800"/>
          </a:xfrm>
        </p:spPr>
        <p:txBody>
          <a:bodyPr>
            <a:noAutofit/>
          </a:bodyPr>
          <a:lstStyle/>
          <a:p>
            <a:pPr algn="ctr"/>
            <a:r>
              <a:rPr lang="en-US" sz="5400" dirty="0" smtClean="0"/>
              <a:t>Architectural components  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63248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5958" y="2143353"/>
            <a:ext cx="8793803" cy="370297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907915"/>
          </a:xfrm>
        </p:spPr>
        <p:txBody>
          <a:bodyPr>
            <a:normAutofit/>
          </a:bodyPr>
          <a:lstStyle/>
          <a:p>
            <a:pPr algn="ctr"/>
            <a:r>
              <a:rPr lang="en-US" dirty="0" smtClean="0"/>
              <a:t>BBS scheduler – from project A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16410" y="5287382"/>
            <a:ext cx="231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To fabric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42716" y="5364325"/>
            <a:ext cx="2830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solidFill>
                  <a:schemeClr val="bg1"/>
                </a:solidFill>
              </a:rPr>
              <a:t>CVT: control vector table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3706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 level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CVT- Control Vector Table</a:t>
            </a:r>
          </a:p>
          <a:p>
            <a:r>
              <a:rPr lang="en-US" dirty="0" smtClean="0"/>
              <a:t>2D array that holds the program state</a:t>
            </a:r>
          </a:p>
          <a:p>
            <a:r>
              <a:rPr lang="en-US" dirty="0" smtClean="0"/>
              <a:t>For each BB there is a matching row</a:t>
            </a:r>
            <a:endParaRPr lang="en-US" dirty="0"/>
          </a:p>
          <a:p>
            <a:r>
              <a:rPr lang="en-US" dirty="0"/>
              <a:t>Specifies which threads are waiting to run</a:t>
            </a:r>
            <a:br>
              <a:rPr lang="en-US" dirty="0"/>
            </a:br>
            <a:r>
              <a:rPr lang="en-US" dirty="0"/>
              <a:t>each BB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593" y="2834017"/>
            <a:ext cx="5935502" cy="3012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6817" y="5384658"/>
            <a:ext cx="231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To fabric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10009763" y="2404366"/>
            <a:ext cx="1381328" cy="193580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91" y="4066162"/>
            <a:ext cx="2955887" cy="24303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1062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 level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BB-sequencer </a:t>
            </a:r>
          </a:p>
          <a:p>
            <a:r>
              <a:rPr lang="en-US" dirty="0" smtClean="0"/>
              <a:t>Decide which BB to run </a:t>
            </a: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based on the CVT state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593" y="2834017"/>
            <a:ext cx="5935502" cy="3012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6817" y="5384658"/>
            <a:ext cx="231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To fabric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5214026" y="3258767"/>
            <a:ext cx="4662791" cy="240743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2919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Top level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Exec ctrl logic</a:t>
            </a:r>
          </a:p>
          <a:p>
            <a:r>
              <a:rPr lang="en-US" dirty="0" smtClean="0"/>
              <a:t>The controller of our component</a:t>
            </a:r>
          </a:p>
          <a:p>
            <a:r>
              <a:rPr lang="en-US" dirty="0" smtClean="0"/>
              <a:t>Update the CVT state according to the </a:t>
            </a:r>
            <a:br>
              <a:rPr lang="en-US" dirty="0" smtClean="0"/>
            </a:br>
            <a:r>
              <a:rPr lang="en-US" dirty="0" smtClean="0"/>
              <a:t>fabric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2593" y="2834017"/>
            <a:ext cx="5935502" cy="301230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731202" y="5384658"/>
            <a:ext cx="231518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solidFill>
                  <a:schemeClr val="bg1"/>
                </a:solidFill>
              </a:rPr>
              <a:t>To fabric</a:t>
            </a:r>
            <a:endParaRPr lang="en-US" sz="2400" dirty="0">
              <a:solidFill>
                <a:schemeClr val="bg1"/>
              </a:solidFill>
            </a:endParaRPr>
          </a:p>
        </p:txBody>
      </p:sp>
      <p:sp>
        <p:nvSpPr>
          <p:cNvPr id="6" name="Oval 5"/>
          <p:cNvSpPr/>
          <p:nvPr/>
        </p:nvSpPr>
        <p:spPr>
          <a:xfrm>
            <a:off x="9844391" y="4100975"/>
            <a:ext cx="1653704" cy="128568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1877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CVT state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Reads and write form/to CVT are done with 64 bits bandwidth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536831"/>
              </p:ext>
            </p:extLst>
          </p:nvPr>
        </p:nvGraphicFramePr>
        <p:xfrm>
          <a:off x="2882900" y="308186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7889573"/>
              </p:ext>
            </p:extLst>
          </p:nvPr>
        </p:nvGraphicFramePr>
        <p:xfrm>
          <a:off x="5727700" y="308186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7293815"/>
              </p:ext>
            </p:extLst>
          </p:nvPr>
        </p:nvGraphicFramePr>
        <p:xfrm>
          <a:off x="8572500" y="308186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316926"/>
              </p:ext>
            </p:extLst>
          </p:nvPr>
        </p:nvGraphicFramePr>
        <p:xfrm>
          <a:off x="2882900" y="3497475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9274503"/>
              </p:ext>
            </p:extLst>
          </p:nvPr>
        </p:nvGraphicFramePr>
        <p:xfrm>
          <a:off x="5727700" y="3497475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8830172"/>
              </p:ext>
            </p:extLst>
          </p:nvPr>
        </p:nvGraphicFramePr>
        <p:xfrm>
          <a:off x="8572500" y="3497475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198860"/>
              </p:ext>
            </p:extLst>
          </p:nvPr>
        </p:nvGraphicFramePr>
        <p:xfrm>
          <a:off x="2882900" y="386487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4623266"/>
              </p:ext>
            </p:extLst>
          </p:nvPr>
        </p:nvGraphicFramePr>
        <p:xfrm>
          <a:off x="5727700" y="386487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1176326"/>
              </p:ext>
            </p:extLst>
          </p:nvPr>
        </p:nvGraphicFramePr>
        <p:xfrm>
          <a:off x="8572500" y="3864876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3471598"/>
              </p:ext>
            </p:extLst>
          </p:nvPr>
        </p:nvGraphicFramePr>
        <p:xfrm>
          <a:off x="2882900" y="3091712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1393555" y="3096233"/>
            <a:ext cx="1575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Running BB</a:t>
            </a:r>
            <a:endParaRPr lang="en-US" dirty="0"/>
          </a:p>
        </p:txBody>
      </p:sp>
      <p:sp>
        <p:nvSpPr>
          <p:cNvPr id="21" name="TextBox 20"/>
          <p:cNvSpPr txBox="1"/>
          <p:nvPr/>
        </p:nvSpPr>
        <p:spPr>
          <a:xfrm>
            <a:off x="1403879" y="3497475"/>
            <a:ext cx="11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1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1403879" y="3864876"/>
            <a:ext cx="1108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Target 2</a:t>
            </a:r>
            <a:endParaRPr lang="en-US" dirty="0"/>
          </a:p>
        </p:txBody>
      </p:sp>
      <p:cxnSp>
        <p:nvCxnSpPr>
          <p:cNvPr id="27" name="Straight Connector 26"/>
          <p:cNvCxnSpPr/>
          <p:nvPr/>
        </p:nvCxnSpPr>
        <p:spPr>
          <a:xfrm>
            <a:off x="1244600" y="5194300"/>
            <a:ext cx="10642600" cy="0"/>
          </a:xfrm>
          <a:prstGeom prst="line">
            <a:avLst/>
          </a:prstGeom>
          <a:ln w="31750">
            <a:solidFill>
              <a:srgbClr val="00B05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22900" y="5718196"/>
            <a:ext cx="1866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smtClean="0">
                <a:solidFill>
                  <a:srgbClr val="00B050"/>
                </a:solidFill>
              </a:rPr>
              <a:t>Fabric</a:t>
            </a:r>
            <a:endParaRPr lang="en-US" sz="3600" dirty="0">
              <a:solidFill>
                <a:srgbClr val="00B050"/>
              </a:solidFill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128468"/>
              </p:ext>
            </p:extLst>
          </p:nvPr>
        </p:nvGraphicFramePr>
        <p:xfrm>
          <a:off x="5727700" y="3096233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0" name="Table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6436040"/>
              </p:ext>
            </p:extLst>
          </p:nvPr>
        </p:nvGraphicFramePr>
        <p:xfrm>
          <a:off x="8572500" y="3096233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1" name="Table 3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1742505"/>
              </p:ext>
            </p:extLst>
          </p:nvPr>
        </p:nvGraphicFramePr>
        <p:xfrm>
          <a:off x="2882900" y="5967465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6491695"/>
              </p:ext>
            </p:extLst>
          </p:nvPr>
        </p:nvGraphicFramePr>
        <p:xfrm>
          <a:off x="2257597" y="5374773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3" name="Table 3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712156"/>
              </p:ext>
            </p:extLst>
          </p:nvPr>
        </p:nvGraphicFramePr>
        <p:xfrm>
          <a:off x="5867400" y="5962943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4" name="Table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21357"/>
              </p:ext>
            </p:extLst>
          </p:nvPr>
        </p:nvGraphicFramePr>
        <p:xfrm>
          <a:off x="5877540" y="5439048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35" name="Table 3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3897130"/>
              </p:ext>
            </p:extLst>
          </p:nvPr>
        </p:nvGraphicFramePr>
        <p:xfrm>
          <a:off x="9042400" y="6008121"/>
          <a:ext cx="28448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  <a:gridCol w="3556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36" name="TextBox 35"/>
          <p:cNvSpPr txBox="1"/>
          <p:nvPr/>
        </p:nvSpPr>
        <p:spPr>
          <a:xfrm>
            <a:off x="5727700" y="2567817"/>
            <a:ext cx="2057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Threads </a:t>
            </a:r>
            <a:r>
              <a:rPr lang="en-US" dirty="0" err="1" smtClean="0">
                <a:solidFill>
                  <a:srgbClr val="FF0000"/>
                </a:solidFill>
              </a:rPr>
              <a:t>intiated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004242" y="4696141"/>
            <a:ext cx="22956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Threads terminated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7200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2.22222E-6 L 0.06459 0.43472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29" y="21736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22222E-6 L 0.01146 0.41805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46" y="19537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2.22222E-6 L -1.66667E-6 0.35533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755"/>
                                    </p:animMotion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-2.22222E-6 L 5E-6 -0.30463 " pathEditMode="relative" rAng="0" ptsTypes="AA">
                                      <p:cBhvr>
                                        <p:cTn id="32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5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2.22222E-6 L -0.01146 -0.35579 " pathEditMode="relative" rAng="0" ptsTypes="AA">
                                      <p:cBhvr>
                                        <p:cTn id="40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3" y="-1780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40741E-7 L -0.03802 -0.31227 " pathEditMode="relative" rAng="0" ptsTypes="AA">
                                      <p:cBhvr>
                                        <p:cTn id="48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901" y="-1562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11111E-6 L -0.01224 -0.2338 " pathEditMode="relative" rAng="0" ptsTypes="AA">
                                      <p:cBhvr>
                                        <p:cTn id="56" dur="2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" y="-116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1.85185E-6 L 0.05235 -0.27084 " pathEditMode="relative" rAng="0" ptsTypes="AA">
                                      <p:cBhvr>
                                        <p:cTn id="64" dur="2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7" y="-1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6" grpId="1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CVU – Control Vector Unit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Interface unit between BB scheduler and fabric</a:t>
            </a:r>
          </a:p>
          <a:p>
            <a:r>
              <a:rPr lang="en-US" dirty="0" smtClean="0"/>
              <a:t>Each thread runs through the fabric independently of others</a:t>
            </a:r>
          </a:p>
          <a:p>
            <a:r>
              <a:rPr lang="en-US" dirty="0" smtClean="0"/>
              <a:t>The CVU functions as both thread initiator and thread terminator</a:t>
            </a:r>
          </a:p>
          <a:p>
            <a:r>
              <a:rPr lang="en-US" dirty="0" smtClean="0"/>
              <a:t>Initiator: receives packets from CVT and </a:t>
            </a:r>
            <a:r>
              <a:rPr lang="en-US" dirty="0" err="1" smtClean="0"/>
              <a:t>lauchens</a:t>
            </a:r>
            <a:r>
              <a:rPr lang="en-US" dirty="0" smtClean="0"/>
              <a:t> threads individually</a:t>
            </a:r>
          </a:p>
          <a:p>
            <a:r>
              <a:rPr lang="en-US" dirty="0" smtClean="0"/>
              <a:t>Terminator: assembles threads back into packets and writes back</a:t>
            </a:r>
            <a:br>
              <a:rPr lang="en-US" dirty="0" smtClean="0"/>
            </a:br>
            <a:r>
              <a:rPr lang="en-US" dirty="0" smtClean="0"/>
              <a:t> to the CVT.</a:t>
            </a:r>
          </a:p>
          <a:p>
            <a:pPr marL="0" indent="0">
              <a:buNone/>
            </a:pPr>
            <a:r>
              <a:rPr lang="en-US" dirty="0" smtClean="0"/>
              <a:t>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201451"/>
            <a:ext cx="4752108" cy="2451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264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pPr algn="ctr"/>
            <a:r>
              <a:rPr lang="en-US" dirty="0" smtClean="0"/>
              <a:t>CVU – schematic layout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73" y="1694450"/>
            <a:ext cx="8188036" cy="4238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018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CVU – </a:t>
            </a:r>
            <a:r>
              <a:rPr lang="en-US" dirty="0"/>
              <a:t>I</a:t>
            </a:r>
            <a:r>
              <a:rPr lang="en-US" dirty="0" smtClean="0"/>
              <a:t>nitiator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73" y="1694450"/>
            <a:ext cx="8188036" cy="4238759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5522923" y="1392382"/>
            <a:ext cx="2275609" cy="1330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010891" y="3807268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4010891" y="4870238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375371" y="4870238"/>
            <a:ext cx="879956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453649" y="3840172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7851447" y="1356912"/>
            <a:ext cx="19408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packets read from CVT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274531" y="3295380"/>
            <a:ext cx="22047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Received packets reside one of the available buffers  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0" name="Elbow Connector 9"/>
          <p:cNvCxnSpPr/>
          <p:nvPr/>
        </p:nvCxnSpPr>
        <p:spPr>
          <a:xfrm>
            <a:off x="6527800" y="4655433"/>
            <a:ext cx="1951490" cy="855414"/>
          </a:xfrm>
          <a:prstGeom prst="bentConnector3">
            <a:avLst>
              <a:gd name="adj1" fmla="val 10011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06531" y="3323454"/>
            <a:ext cx="23368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Threads are launched separately through the fabric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4409862" y="4051399"/>
            <a:ext cx="971474" cy="4333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6" name="Right Arrow 25"/>
          <p:cNvSpPr/>
          <p:nvPr/>
        </p:nvSpPr>
        <p:spPr>
          <a:xfrm>
            <a:off x="4358138" y="5136249"/>
            <a:ext cx="971474" cy="43338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34763" y="4785140"/>
            <a:ext cx="278255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When one bucket drains out of threads switch to another and load a new bucket from CVT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8" name="Oval 27"/>
          <p:cNvSpPr/>
          <p:nvPr/>
        </p:nvSpPr>
        <p:spPr>
          <a:xfrm>
            <a:off x="7429500" y="4655433"/>
            <a:ext cx="977803" cy="133003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56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3" grpId="0"/>
      <p:bldP spid="3" grpId="1"/>
      <p:bldP spid="4" grpId="0"/>
      <p:bldP spid="4" grpId="1"/>
      <p:bldP spid="23" grpId="0"/>
      <p:bldP spid="25" grpId="0" animBg="1"/>
      <p:bldP spid="25" grpId="1" animBg="1"/>
      <p:bldP spid="26" grpId="0" animBg="1"/>
      <p:bldP spid="27" grpId="0"/>
      <p:bldP spid="28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pPr algn="ctr"/>
            <a:r>
              <a:rPr lang="en-US" dirty="0" smtClean="0"/>
              <a:t>CVU - Terminator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1373" y="1694450"/>
            <a:ext cx="8188036" cy="4238759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2563823" y="1379682"/>
            <a:ext cx="2275609" cy="175721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4892346" y="1344212"/>
            <a:ext cx="23720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Threads received from fabric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4010891" y="3807268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4010891" y="4870238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375371" y="4870238"/>
            <a:ext cx="879956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5453649" y="3840172"/>
            <a:ext cx="820882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6274531" y="3295380"/>
            <a:ext cx="2488469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Received threads  written to on of the available buffers. </a:t>
            </a:r>
          </a:p>
          <a:p>
            <a:r>
              <a:rPr lang="en-US" dirty="0" smtClean="0">
                <a:solidFill>
                  <a:srgbClr val="FF0000"/>
                </a:solidFill>
              </a:rPr>
              <a:t>Only one batch is in use at a time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2692400" y="2895600"/>
            <a:ext cx="1265577" cy="1011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/>
          <p:cNvSpPr txBox="1"/>
          <p:nvPr/>
        </p:nvSpPr>
        <p:spPr>
          <a:xfrm>
            <a:off x="1158260" y="2156936"/>
            <a:ext cx="1615829" cy="1477328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Threads are checked to belong to the packet being accumulated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631373" y="4804063"/>
            <a:ext cx="1265577" cy="10113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/>
          <p:cNvSpPr/>
          <p:nvPr/>
        </p:nvSpPr>
        <p:spPr>
          <a:xfrm>
            <a:off x="5933305" y="5080929"/>
            <a:ext cx="879956" cy="879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7060213" y="5085337"/>
            <a:ext cx="2490187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On a mismatch the packets is written back to the CVT, and another buffer is used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128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/>
      <p:bldP spid="7" grpId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4" grpId="0" animBg="1"/>
      <p:bldP spid="14" grpId="1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538919" y="2966937"/>
            <a:ext cx="651753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accent1"/>
                </a:solidFill>
              </a:rPr>
              <a:t>SIMULATION</a:t>
            </a:r>
            <a:endParaRPr lang="en-US" sz="8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1205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2581"/>
            <a:ext cx="12192000" cy="167283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43462" y="566894"/>
            <a:ext cx="77943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accent1"/>
                </a:solidFill>
              </a:rPr>
              <a:t>CVU-Initiator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43150" y="4967667"/>
            <a:ext cx="2222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solidFill>
                  <a:srgbClr val="FF0000"/>
                </a:solidFill>
              </a:rPr>
              <a:t>Intiated</a:t>
            </a:r>
            <a:r>
              <a:rPr lang="en-US" dirty="0" smtClean="0">
                <a:solidFill>
                  <a:srgbClr val="FF0000"/>
                </a:solidFill>
              </a:rPr>
              <a:t> threads IDs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12150" y="5358532"/>
            <a:ext cx="2495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Packet drained out, request another one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55789" y="3048001"/>
            <a:ext cx="416212" cy="2794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7787989" y="3638550"/>
            <a:ext cx="416212" cy="2794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11760200" y="6396962"/>
            <a:ext cx="431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44407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3" grpId="0" animBg="1"/>
      <p:bldP spid="1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80304"/>
            <a:ext cx="12192000" cy="149739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6496050" y="3222625"/>
            <a:ext cx="812800" cy="330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29992" y="2766799"/>
            <a:ext cx="194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Terminated TID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8440965" y="3387725"/>
            <a:ext cx="812800" cy="330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88538" y="2741394"/>
            <a:ext cx="1944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Accumulated terminated TID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43462" y="566894"/>
            <a:ext cx="77943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accent1"/>
                </a:solidFill>
              </a:rPr>
              <a:t>CVU-Terminator</a:t>
            </a:r>
            <a:endParaRPr lang="en-US" sz="8000" dirty="0">
              <a:solidFill>
                <a:schemeClr val="accent1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30629" y="3552824"/>
            <a:ext cx="1727199" cy="4095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2561" y="3916013"/>
            <a:ext cx="413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Bitmap offset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6481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5" grpId="0" animBg="1"/>
      <p:bldP spid="6" grpId="0"/>
      <p:bldP spid="10" grpId="0" animBg="1"/>
      <p:bldP spid="1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944533"/>
            <a:ext cx="12192000" cy="1497392"/>
          </a:xfrm>
          <a:prstGeom prst="rect">
            <a:avLst/>
          </a:prstGeom>
        </p:spPr>
      </p:pic>
      <p:sp>
        <p:nvSpPr>
          <p:cNvPr id="2" name="Oval 1"/>
          <p:cNvSpPr/>
          <p:nvPr/>
        </p:nvSpPr>
        <p:spPr>
          <a:xfrm>
            <a:off x="6496050" y="5486854"/>
            <a:ext cx="812800" cy="330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929992" y="5031028"/>
            <a:ext cx="1944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Terminated TID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8440965" y="5651954"/>
            <a:ext cx="812800" cy="330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88538" y="5005623"/>
            <a:ext cx="1944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Accumulated terminated TID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543462" y="566894"/>
            <a:ext cx="7768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rgbClr val="4A66AC"/>
                </a:solidFill>
              </a:rPr>
              <a:t>CVU-Terminator</a:t>
            </a:r>
            <a:endParaRPr lang="en-US" sz="8000" dirty="0">
              <a:solidFill>
                <a:srgbClr val="4A66AC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130629" y="5817053"/>
            <a:ext cx="1727199" cy="409575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2561" y="6180242"/>
            <a:ext cx="4132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Bitmap offset</a:t>
            </a:r>
            <a:endParaRPr lang="en-US" dirty="0">
              <a:solidFill>
                <a:srgbClr val="FF0000"/>
              </a:solidFill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10326"/>
            <a:ext cx="12192000" cy="1468565"/>
          </a:xfrm>
          <a:prstGeom prst="rect">
            <a:avLst/>
          </a:prstGeom>
        </p:spPr>
      </p:pic>
      <p:sp>
        <p:nvSpPr>
          <p:cNvPr id="9" name="Up Arrow 8"/>
          <p:cNvSpPr/>
          <p:nvPr/>
        </p:nvSpPr>
        <p:spPr>
          <a:xfrm>
            <a:off x="4845503" y="3155975"/>
            <a:ext cx="228600" cy="2667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Up Arrow 14"/>
          <p:cNvSpPr/>
          <p:nvPr/>
        </p:nvSpPr>
        <p:spPr>
          <a:xfrm>
            <a:off x="6308116" y="3155975"/>
            <a:ext cx="228600" cy="266700"/>
          </a:xfrm>
          <a:prstGeom prst="up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533900" y="3848100"/>
            <a:ext cx="250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TID within the same offset accumulated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6934200" y="2673267"/>
            <a:ext cx="520700" cy="266535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802229" y="1651772"/>
            <a:ext cx="25019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Terminated thread out of current offset 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130629" y="2699121"/>
            <a:ext cx="812800" cy="330200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6345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6" grpId="0"/>
      <p:bldP spid="17" grpId="0" animBg="1"/>
      <p:bldP spid="18" grpId="0"/>
      <p:bldP spid="1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592487"/>
            <a:ext cx="12192000" cy="307171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67362" y="147794"/>
            <a:ext cx="6879938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0" dirty="0" smtClean="0">
                <a:solidFill>
                  <a:schemeClr val="accent1"/>
                </a:solidFill>
              </a:rPr>
              <a:t>CVU-CVT </a:t>
            </a:r>
            <a:r>
              <a:rPr lang="en-US" sz="4400" dirty="0" smtClean="0">
                <a:solidFill>
                  <a:schemeClr val="accent1"/>
                </a:solidFill>
              </a:rPr>
              <a:t>Scheduling a new BB</a:t>
            </a:r>
          </a:p>
        </p:txBody>
      </p:sp>
      <p:sp>
        <p:nvSpPr>
          <p:cNvPr id="2" name="Right Arrow 1"/>
          <p:cNvSpPr/>
          <p:nvPr/>
        </p:nvSpPr>
        <p:spPr>
          <a:xfrm>
            <a:off x="4051300" y="3479800"/>
            <a:ext cx="355600" cy="1778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708400" y="2712489"/>
            <a:ext cx="1689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Terminated threads ID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6838950" y="4368800"/>
            <a:ext cx="527050" cy="1905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4705350" y="4393870"/>
            <a:ext cx="527050" cy="1905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7270750" y="4584370"/>
            <a:ext cx="527050" cy="1905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9023350" y="4965370"/>
            <a:ext cx="527050" cy="190500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0364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6" grpId="0" animBg="1"/>
      <p:bldP spid="7" grpId="0" animBg="1"/>
      <p:bldP spid="8" grpId="0" animBg="1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17524" y="2334639"/>
            <a:ext cx="37914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accent1"/>
                </a:solidFill>
              </a:rPr>
              <a:t>SUMMARY</a:t>
            </a:r>
            <a:endParaRPr lang="en-US" sz="6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04236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420239"/>
            <a:ext cx="8596668" cy="4621124"/>
          </a:xfrm>
        </p:spPr>
        <p:txBody>
          <a:bodyPr/>
          <a:lstStyle/>
          <a:p>
            <a:r>
              <a:rPr lang="en-US" dirty="0" smtClean="0"/>
              <a:t>We gain a brief knowledge on GPGPUs and some of the modern architectures in this field</a:t>
            </a:r>
          </a:p>
          <a:p>
            <a:r>
              <a:rPr lang="en-US" dirty="0" smtClean="0"/>
              <a:t>Our main focus was on the VGIW architecture.</a:t>
            </a:r>
          </a:p>
          <a:p>
            <a:r>
              <a:rPr lang="en-US" dirty="0" smtClean="0"/>
              <a:t>Gain more experience in programing with </a:t>
            </a:r>
            <a:r>
              <a:rPr lang="en-US" dirty="0" err="1" smtClean="0"/>
              <a:t>systemverilog</a:t>
            </a:r>
            <a:endParaRPr lang="en-US" dirty="0" smtClean="0"/>
          </a:p>
          <a:p>
            <a:r>
              <a:rPr lang="en-US" dirty="0" smtClean="0"/>
              <a:t>Improved our skills in hardware designing and implementing</a:t>
            </a:r>
          </a:p>
          <a:p>
            <a:r>
              <a:rPr lang="en-US" dirty="0" smtClean="0"/>
              <a:t>Improved our teamwork skills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8640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066162" y="2597284"/>
            <a:ext cx="49221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dirty="0" smtClean="0">
                <a:solidFill>
                  <a:schemeClr val="accent1"/>
                </a:solidFill>
                <a:latin typeface="Arial Black" panose="020B0A04020102020204" pitchFamily="34" charset="0"/>
              </a:rPr>
              <a:t>Q&amp;A</a:t>
            </a:r>
            <a:endParaRPr lang="en-US" sz="6600" dirty="0">
              <a:solidFill>
                <a:schemeClr val="accent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5603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17441</TotalTime>
  <Words>610</Words>
  <Application>Microsoft Office PowerPoint</Application>
  <PresentationFormat>Widescreen</PresentationFormat>
  <Paragraphs>249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Trebuchet MS</vt:lpstr>
      <vt:lpstr>Wingdings 3</vt:lpstr>
      <vt:lpstr>Facet</vt:lpstr>
      <vt:lpstr>VLSI PROJECT Design and Implement CVU- Control Vector Unit for VGIW Archeticture </vt:lpstr>
      <vt:lpstr>Reminder  </vt:lpstr>
      <vt:lpstr>Terminology </vt:lpstr>
      <vt:lpstr>Control-Flow graph</vt:lpstr>
      <vt:lpstr>PowerPoint Presentation</vt:lpstr>
      <vt:lpstr>The VGIW Architecture vector graph instruction word</vt:lpstr>
      <vt:lpstr>Life span of a kernel  </vt:lpstr>
      <vt:lpstr>Life span of a kernel</vt:lpstr>
      <vt:lpstr>Architectural components  </vt:lpstr>
      <vt:lpstr>BBS scheduler – from project A</vt:lpstr>
      <vt:lpstr>Top level view</vt:lpstr>
      <vt:lpstr>Top level view</vt:lpstr>
      <vt:lpstr>Top level view</vt:lpstr>
      <vt:lpstr>CVT state </vt:lpstr>
      <vt:lpstr>CVU – Control Vector Unit </vt:lpstr>
      <vt:lpstr>CVU – schematic layout </vt:lpstr>
      <vt:lpstr>CVU – Initiator </vt:lpstr>
      <vt:lpstr>CVU - Terminator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Intel Corporation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Khatib, Kmal</dc:creator>
  <cp:keywords>CTPClassification=CTP_NT</cp:keywords>
  <cp:lastModifiedBy>Khatib, Kamal</cp:lastModifiedBy>
  <cp:revision>204</cp:revision>
  <dcterms:created xsi:type="dcterms:W3CDTF">2016-11-18T11:43:04Z</dcterms:created>
  <dcterms:modified xsi:type="dcterms:W3CDTF">2018-04-09T10:17:18Z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75ffbfb7-7a35-4a13-ac4c-eab93a067713</vt:lpwstr>
  </property>
  <property fmtid="{D5CDD505-2E9C-101B-9397-08002B2CF9AE}" pid="3" name="CTP_TimeStamp">
    <vt:lpwstr>2018-04-09 10:17:18Z</vt:lpwstr>
  </property>
  <property fmtid="{D5CDD505-2E9C-101B-9397-08002B2CF9AE}" pid="4" name="CTP_BU">
    <vt:lpwstr>NA</vt:lpwstr>
  </property>
  <property fmtid="{D5CDD505-2E9C-101B-9397-08002B2CF9AE}" pid="5" name="CTP_IDSID">
    <vt:lpwstr>NA</vt:lpwstr>
  </property>
  <property fmtid="{D5CDD505-2E9C-101B-9397-08002B2CF9AE}" pid="6" name="CTP_WWID">
    <vt:lpwstr>NA</vt:lpwstr>
  </property>
  <property fmtid="{D5CDD505-2E9C-101B-9397-08002B2CF9AE}" pid="7" name="CTPClassification">
    <vt:lpwstr>CTP_NT</vt:lpwstr>
  </property>
</Properties>
</file>